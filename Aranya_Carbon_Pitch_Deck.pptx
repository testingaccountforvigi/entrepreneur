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120640"/>
            <a:ext cx="12191695" cy="1737360"/>
          </a:xfrm>
          <a:prstGeom prst="rect">
            <a:avLst/>
          </a:prstGeom>
          <a:solidFill>
            <a:srgbClr val="124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15000"/>
            <a:ext cx="12191695" cy="1143000"/>
          </a:xfrm>
          <a:prstGeom prst="rect">
            <a:avLst/>
          </a:prstGeom>
          <a:solidFill>
            <a:srgbClr val="165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2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1417320"/>
            <a:ext cx="121916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0">
                <a:solidFill>
                  <a:srgbClr val="7CC68E"/>
                </a:solidFill>
                <a:latin typeface="Calibri"/>
              </a:rPr>
              <a:t>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242316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>
                <a:solidFill>
                  <a:srgbClr val="FFFFFF"/>
                </a:solidFill>
                <a:latin typeface="Calibri"/>
              </a:rPr>
              <a:t>Aranya Carbon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78224" y="3611880"/>
            <a:ext cx="4023360" cy="566928"/>
          </a:xfrm>
          <a:prstGeom prst="roundRect">
            <a:avLst>
              <a:gd name="adj" fmla="val 6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78224" y="3611880"/>
            <a:ext cx="4023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🌍  The Stripe of Indian community carbon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4370832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>
                <a:solidFill>
                  <a:srgbClr val="CFE6D6"/>
                </a:solidFill>
                <a:latin typeface="Calibri"/>
              </a:rPr>
              <a:t>Forests store carbon. Communities earn nothing.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40080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AFCFBC"/>
                </a:solidFill>
                <a:latin typeface="Calibri"/>
              </a:rPr>
              <a:t>Team WeTookAi'sJob   ·   Business Model Canvas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F2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E7D32"/>
                </a:solidFill>
                <a:latin typeface="Calibri"/>
              </a:rPr>
              <a:t>WHO WE 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0F3D2E"/>
                </a:solidFill>
                <a:latin typeface="Calibri"/>
              </a:rPr>
              <a:t>Customer Segments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1371600" cy="64008"/>
          </a:xfrm>
          <a:prstGeom prst="roundRect">
            <a:avLst/>
          </a:prstGeom>
          <a:solidFill>
            <a:srgbClr val="F2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240280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E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240280"/>
            <a:ext cx="2514600" cy="109728"/>
          </a:xfrm>
          <a:prstGeom prst="roundRect">
            <a:avLst>
              <a:gd name="adj" fmla="val 6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14600"/>
            <a:ext cx="2514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0">
                <a:solidFill>
                  <a:srgbClr val="1B5E20"/>
                </a:solidFill>
                <a:latin typeface="Calibri"/>
              </a:rPr>
              <a:t>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319272"/>
            <a:ext cx="2295144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0F3D2E"/>
                </a:solidFill>
                <a:latin typeface="Calibri"/>
              </a:rPr>
              <a:t>Forest communities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5B6F62"/>
                </a:solidFill>
                <a:latin typeface="Calibri"/>
              </a:rPr>
              <a:t>Gram panchayats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2240280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E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11880" y="2240280"/>
            <a:ext cx="2514600" cy="109728"/>
          </a:xfrm>
          <a:prstGeom prst="roundRect">
            <a:avLst>
              <a:gd name="adj" fmla="val 6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2514600"/>
            <a:ext cx="2514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0">
                <a:solidFill>
                  <a:srgbClr val="1B5E20"/>
                </a:solidFill>
                <a:latin typeface="Calibri"/>
              </a:rPr>
              <a:t>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3319272"/>
            <a:ext cx="2295144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0F3D2E"/>
                </a:solidFill>
                <a:latin typeface="Calibri"/>
              </a:rPr>
              <a:t>Corporates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5B6F62"/>
                </a:solidFill>
                <a:latin typeface="Calibri"/>
              </a:rPr>
              <a:t>With net-zero goals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240280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E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0" y="2240280"/>
            <a:ext cx="2514600" cy="109728"/>
          </a:xfrm>
          <a:prstGeom prst="roundRect">
            <a:avLst>
              <a:gd name="adj" fmla="val 6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514600"/>
            <a:ext cx="2514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0">
                <a:solidFill>
                  <a:srgbClr val="1B5E20"/>
                </a:solidFill>
                <a:latin typeface="Calibri"/>
              </a:rPr>
              <a:t>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3319272"/>
            <a:ext cx="2295144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0F3D2E"/>
                </a:solidFill>
                <a:latin typeface="Calibri"/>
              </a:rPr>
              <a:t>NGOs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5B6F62"/>
                </a:solidFill>
                <a:latin typeface="Calibri"/>
              </a:rPr>
              <a:t>&amp; forest departments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89720" y="2240280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E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89720" y="2240280"/>
            <a:ext cx="2514600" cy="109728"/>
          </a:xfrm>
          <a:prstGeom prst="roundRect">
            <a:avLst>
              <a:gd name="adj" fmla="val 6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9720" y="2514600"/>
            <a:ext cx="2514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0">
                <a:solidFill>
                  <a:srgbClr val="1B5E20"/>
                </a:solidFill>
                <a:latin typeface="Calibri"/>
              </a:rPr>
              <a:t>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9448" y="3319272"/>
            <a:ext cx="2295144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0F3D2E"/>
                </a:solidFill>
                <a:latin typeface="Calibri"/>
              </a:rPr>
              <a:t>Institutional buyers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5B6F62"/>
                </a:solidFill>
                <a:latin typeface="Calibri"/>
              </a:rPr>
              <a:t>Carbon funds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5B6F62"/>
                </a:solidFill>
                <a:latin typeface="Calibri"/>
              </a:rPr>
              <a:t>Aranya Carbon  ·  Team WeTookAi'sJob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7D32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F2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E7D32"/>
                </a:solidFill>
                <a:latin typeface="Calibri"/>
              </a:rPr>
              <a:t>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0F3D2E"/>
                </a:solidFill>
                <a:latin typeface="Calibri"/>
              </a:rPr>
              <a:t>Value Proposition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1371600" cy="64008"/>
          </a:xfrm>
          <a:prstGeom prst="roundRect">
            <a:avLst/>
          </a:prstGeom>
          <a:solidFill>
            <a:srgbClr val="F2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148840"/>
            <a:ext cx="10515600" cy="777240"/>
          </a:xfrm>
          <a:prstGeom prst="roundRect">
            <a:avLst>
              <a:gd name="adj" fmla="val 6000"/>
            </a:avLst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105156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⛓  Problem:  Verification costs too much, takes years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246120"/>
            <a:ext cx="512064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E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3246120"/>
            <a:ext cx="5120640" cy="128016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657600"/>
            <a:ext cx="5120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0">
                <a:solidFill>
                  <a:srgbClr val="1B5E20"/>
                </a:solidFill>
                <a:latin typeface="Calibri"/>
              </a:rPr>
              <a:t>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572000"/>
            <a:ext cx="51206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F3D2E"/>
                </a:solidFill>
                <a:latin typeface="Calibri"/>
              </a:rPr>
              <a:t>For forest owners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5B6F62"/>
                </a:solidFill>
                <a:latin typeface="Calibri"/>
              </a:rPr>
              <a:t>Direct income, zero upfront cost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246120"/>
            <a:ext cx="512064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E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0" y="3246120"/>
            <a:ext cx="5120640" cy="128016"/>
          </a:xfrm>
          <a:prstGeom prst="roundRect">
            <a:avLst/>
          </a:prstGeom>
          <a:solidFill>
            <a:srgbClr val="F2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3657600"/>
            <a:ext cx="5120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0">
                <a:solidFill>
                  <a:srgbClr val="F2A825"/>
                </a:solidFill>
                <a:latin typeface="Calibri"/>
              </a:rPr>
              <a:t>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4572000"/>
            <a:ext cx="51206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F3D2E"/>
                </a:solidFill>
                <a:latin typeface="Calibri"/>
              </a:rPr>
              <a:t>For corporate buyers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5B6F62"/>
                </a:solidFill>
                <a:latin typeface="Calibri"/>
              </a:rPr>
              <a:t>Traceable Indian community credits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5B6F62"/>
                </a:solidFill>
                <a:latin typeface="Calibri"/>
              </a:rPr>
              <a:t>Aranya Carbon  ·  Team WeTookAi'sJob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7D32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F2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E7D32"/>
                </a:solidFill>
                <a:latin typeface="Calibri"/>
              </a:rPr>
              <a:t>HOW WE REACH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0F3D2E"/>
                </a:solidFill>
                <a:latin typeface="Calibri"/>
              </a:rPr>
              <a:t>Channels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1371600" cy="64008"/>
          </a:xfrm>
          <a:prstGeom prst="roundRect">
            <a:avLst/>
          </a:prstGeom>
          <a:solidFill>
            <a:srgbClr val="F2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468880"/>
            <a:ext cx="2377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E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2468880"/>
            <a:ext cx="2377440" cy="109728"/>
          </a:xfrm>
          <a:prstGeom prst="roundRect">
            <a:avLst>
              <a:gd name="adj" fmla="val 6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743200"/>
            <a:ext cx="23774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0">
                <a:solidFill>
                  <a:srgbClr val="1B5E20"/>
                </a:solidFill>
                <a:latin typeface="Calibri"/>
              </a:rPr>
              <a:t>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3547872"/>
            <a:ext cx="215798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0F3D2E"/>
                </a:solidFill>
                <a:latin typeface="Calibri"/>
              </a:rPr>
              <a:t>NGO partner network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468880"/>
            <a:ext cx="411480" cy="2651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E7D32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2468880"/>
            <a:ext cx="2377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E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57600" y="2468880"/>
            <a:ext cx="2377440" cy="109728"/>
          </a:xfrm>
          <a:prstGeom prst="roundRect">
            <a:avLst>
              <a:gd name="adj" fmla="val 6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0" y="2743200"/>
            <a:ext cx="23774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0">
                <a:solidFill>
                  <a:srgbClr val="1B5E20"/>
                </a:solidFill>
                <a:latin typeface="Calibri"/>
              </a:rPr>
              <a:t>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67328" y="3547872"/>
            <a:ext cx="215798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0F3D2E"/>
                </a:solidFill>
                <a:latin typeface="Calibri"/>
              </a:rPr>
              <a:t>Field operations team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2468880"/>
            <a:ext cx="411480" cy="2651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E7D32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2468880"/>
            <a:ext cx="2377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E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46520" y="2468880"/>
            <a:ext cx="2377440" cy="109728"/>
          </a:xfrm>
          <a:prstGeom prst="roundRect">
            <a:avLst>
              <a:gd name="adj" fmla="val 6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2743200"/>
            <a:ext cx="23774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0">
                <a:solidFill>
                  <a:srgbClr val="1B5E20"/>
                </a:solidFill>
                <a:latin typeface="Calibri"/>
              </a:rPr>
              <a:t>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6248" y="3547872"/>
            <a:ext cx="215798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0F3D2E"/>
                </a:solidFill>
                <a:latin typeface="Calibri"/>
              </a:rPr>
              <a:t>B2B credit marketplace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960" y="2468880"/>
            <a:ext cx="411480" cy="2651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E7D32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35440" y="2468880"/>
            <a:ext cx="2377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E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235440" y="2468880"/>
            <a:ext cx="2377440" cy="109728"/>
          </a:xfrm>
          <a:prstGeom prst="roundRect">
            <a:avLst>
              <a:gd name="adj" fmla="val 6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2743200"/>
            <a:ext cx="23774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0">
                <a:solidFill>
                  <a:srgbClr val="1B5E20"/>
                </a:solidFill>
                <a:latin typeface="Calibri"/>
              </a:rPr>
              <a:t>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8" y="3547872"/>
            <a:ext cx="215798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0F3D2E"/>
                </a:solidFill>
                <a:latin typeface="Calibri"/>
              </a:rPr>
              <a:t>Corporate ESG outreach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5B6F62"/>
                </a:solidFill>
                <a:latin typeface="Calibri"/>
              </a:rPr>
              <a:t>Aranya Carbon  ·  Team WeTookAi'sJob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7D32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F2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E7D32"/>
                </a:solidFill>
                <a:latin typeface="Calibri"/>
              </a:rPr>
              <a:t>TRUST &amp; ENGAGEMENT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0F3D2E"/>
                </a:solidFill>
                <a:latin typeface="Calibri"/>
              </a:rPr>
              <a:t>Customer Relationships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1371600" cy="64008"/>
          </a:xfrm>
          <a:prstGeom prst="roundRect">
            <a:avLst/>
          </a:prstGeom>
          <a:solidFill>
            <a:srgbClr val="F2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240280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E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240280"/>
            <a:ext cx="91440" cy="84124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240280"/>
            <a:ext cx="8686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1B5E20"/>
                </a:solidFill>
                <a:latin typeface="Calibri"/>
              </a:rPr>
              <a:t>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2240280"/>
            <a:ext cx="91897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222B25"/>
                </a:solidFill>
                <a:latin typeface="Calibri"/>
              </a:rPr>
              <a:t>Local-language field support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319272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E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3319272"/>
            <a:ext cx="91440" cy="84124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8686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1B5E20"/>
                </a:solidFill>
                <a:latin typeface="Calibri"/>
              </a:rPr>
              <a:t>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3319272"/>
            <a:ext cx="91897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222B25"/>
                </a:solidFill>
                <a:latin typeface="Calibri"/>
              </a:rPr>
              <a:t>Transparent direct payouts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398264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E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4398264"/>
            <a:ext cx="91440" cy="84124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398264"/>
            <a:ext cx="8686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1B5E20"/>
                </a:solidFill>
                <a:latin typeface="Calibri"/>
              </a:rPr>
              <a:t>🛰️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4398264"/>
            <a:ext cx="91897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222B25"/>
                </a:solidFill>
                <a:latin typeface="Calibri"/>
              </a:rPr>
              <a:t>Live satellite monitoring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477256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E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0" y="5477256"/>
            <a:ext cx="91440" cy="84124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477256"/>
            <a:ext cx="8686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1B5E20"/>
                </a:solidFill>
                <a:latin typeface="Calibri"/>
              </a:rPr>
              <a:t>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5477256"/>
            <a:ext cx="91897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222B25"/>
                </a:solidFill>
                <a:latin typeface="Calibri"/>
              </a:rPr>
              <a:t>Dedicated buyer accounts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5B6F62"/>
                </a:solidFill>
                <a:latin typeface="Calibri"/>
              </a:rPr>
              <a:t>Aranya Carbon  ·  Team WeTookAi'sJob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7D32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F2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E7D32"/>
                </a:solidFill>
                <a:latin typeface="Calibri"/>
              </a:rPr>
              <a:t>HOW WE EARN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0F3D2E"/>
                </a:solidFill>
                <a:latin typeface="Calibri"/>
              </a:rPr>
              <a:t>Revenue Streams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1371600" cy="64008"/>
          </a:xfrm>
          <a:prstGeom prst="roundRect">
            <a:avLst/>
          </a:prstGeom>
          <a:solidFill>
            <a:srgbClr val="F2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240280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E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240280"/>
            <a:ext cx="2514600" cy="109728"/>
          </a:xfrm>
          <a:prstGeom prst="roundRect">
            <a:avLst>
              <a:gd name="adj" fmla="val 6000"/>
            </a:avLst>
          </a:prstGeom>
          <a:solidFill>
            <a:srgbClr val="F2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14600"/>
            <a:ext cx="2514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0">
                <a:solidFill>
                  <a:srgbClr val="F2A825"/>
                </a:solidFill>
                <a:latin typeface="Calibri"/>
              </a:rPr>
              <a:t>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319272"/>
            <a:ext cx="2295144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0F3D2E"/>
                </a:solidFill>
                <a:latin typeface="Calibri"/>
              </a:rPr>
              <a:t>Credit sale commission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5B6F62"/>
                </a:solidFill>
                <a:latin typeface="Calibri"/>
              </a:rPr>
              <a:t>18% primary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2240280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E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11880" y="2240280"/>
            <a:ext cx="2514600" cy="109728"/>
          </a:xfrm>
          <a:prstGeom prst="roundRect">
            <a:avLst>
              <a:gd name="adj" fmla="val 6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2514600"/>
            <a:ext cx="2514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0">
                <a:solidFill>
                  <a:srgbClr val="1B5E20"/>
                </a:solidFill>
                <a:latin typeface="Calibri"/>
              </a:rPr>
              <a:t>🛰️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3319272"/>
            <a:ext cx="2295144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0F3D2E"/>
                </a:solidFill>
                <a:latin typeface="Calibri"/>
              </a:rPr>
              <a:t>Monitoring subscriptions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5B6F62"/>
                </a:solidFill>
                <a:latin typeface="Calibri"/>
              </a:rPr>
              <a:t>Annual per project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240280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E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0" y="2240280"/>
            <a:ext cx="2514600" cy="109728"/>
          </a:xfrm>
          <a:prstGeom prst="roundRect">
            <a:avLst>
              <a:gd name="adj" fmla="val 6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514600"/>
            <a:ext cx="2514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0">
                <a:solidFill>
                  <a:srgbClr val="1B5E20"/>
                </a:solidFill>
                <a:latin typeface="Calibri"/>
              </a:rPr>
              <a:t>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3319272"/>
            <a:ext cx="2295144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0F3D2E"/>
                </a:solidFill>
                <a:latin typeface="Calibri"/>
              </a:rPr>
              <a:t>NGO SaaS subscriptions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5B6F62"/>
                </a:solidFill>
                <a:latin typeface="Calibri"/>
              </a:rPr>
              <a:t>Monthly platform fee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89720" y="2240280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E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89720" y="2240280"/>
            <a:ext cx="2514600" cy="109728"/>
          </a:xfrm>
          <a:prstGeom prst="roundRect">
            <a:avLst>
              <a:gd name="adj" fmla="val 6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9720" y="2514600"/>
            <a:ext cx="2514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0">
                <a:solidFill>
                  <a:srgbClr val="1B5E20"/>
                </a:solidFill>
                <a:latin typeface="Calibri"/>
              </a:rPr>
              <a:t>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9448" y="3319272"/>
            <a:ext cx="2295144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0F3D2E"/>
                </a:solidFill>
                <a:latin typeface="Calibri"/>
              </a:rPr>
              <a:t>Enterprise buyer subs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5B6F62"/>
                </a:solidFill>
                <a:latin typeface="Calibri"/>
              </a:rPr>
              <a:t>Priority access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5B6F62"/>
                </a:solidFill>
                <a:latin typeface="Calibri"/>
              </a:rPr>
              <a:t>Aranya Carbon  ·  Team WeTookAi'sJob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7D32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F2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E7D32"/>
                </a:solidFill>
                <a:latin typeface="Calibri"/>
              </a:rPr>
              <a:t>WHAT WE NEED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0F3D2E"/>
                </a:solidFill>
                <a:latin typeface="Calibri"/>
              </a:rPr>
              <a:t>Key Resources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1371600" cy="64008"/>
          </a:xfrm>
          <a:prstGeom prst="roundRect">
            <a:avLst/>
          </a:prstGeom>
          <a:solidFill>
            <a:srgbClr val="F2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240280"/>
            <a:ext cx="51206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E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240280"/>
            <a:ext cx="5120640" cy="109728"/>
          </a:xfrm>
          <a:prstGeom prst="roundRect">
            <a:avLst>
              <a:gd name="adj" fmla="val 6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14600"/>
            <a:ext cx="51206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0">
                <a:solidFill>
                  <a:srgbClr val="1B5E20"/>
                </a:solidFill>
                <a:latin typeface="Calibri"/>
              </a:rPr>
              <a:t>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319272"/>
            <a:ext cx="4901184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0F3D2E"/>
                </a:solidFill>
                <a:latin typeface="Calibri"/>
              </a:rPr>
              <a:t>Digital platform &amp; app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240280"/>
            <a:ext cx="51206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E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2240280"/>
            <a:ext cx="5120640" cy="109728"/>
          </a:xfrm>
          <a:prstGeom prst="roundRect">
            <a:avLst>
              <a:gd name="adj" fmla="val 6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2514600"/>
            <a:ext cx="51206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0">
                <a:solidFill>
                  <a:srgbClr val="1B5E20"/>
                </a:solidFill>
                <a:latin typeface="Calibri"/>
              </a:rPr>
              <a:t>🛰️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3319272"/>
            <a:ext cx="4901184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0F3D2E"/>
                </a:solidFill>
                <a:latin typeface="Calibri"/>
              </a:rPr>
              <a:t>Satellite &amp; geospatial 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297680"/>
            <a:ext cx="51206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E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4297680"/>
            <a:ext cx="5120640" cy="109728"/>
          </a:xfrm>
          <a:prstGeom prst="roundRect">
            <a:avLst>
              <a:gd name="adj" fmla="val 6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572000"/>
            <a:ext cx="51206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0">
                <a:solidFill>
                  <a:srgbClr val="1B5E20"/>
                </a:solidFill>
                <a:latin typeface="Calibri"/>
              </a:rPr>
              <a:t>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5376672"/>
            <a:ext cx="4901184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0F3D2E"/>
                </a:solidFill>
                <a:latin typeface="Calibri"/>
              </a:rPr>
              <a:t>Carbon data &amp; AI models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297680"/>
            <a:ext cx="51206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E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17920" y="4297680"/>
            <a:ext cx="5120640" cy="109728"/>
          </a:xfrm>
          <a:prstGeom prst="roundRect">
            <a:avLst>
              <a:gd name="adj" fmla="val 6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4572000"/>
            <a:ext cx="51206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0">
                <a:solidFill>
                  <a:srgbClr val="1B5E20"/>
                </a:solidFill>
                <a:latin typeface="Calibri"/>
              </a:rPr>
              <a:t>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7648" y="5376672"/>
            <a:ext cx="4901184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0F3D2E"/>
                </a:solidFill>
                <a:latin typeface="Calibri"/>
              </a:rPr>
              <a:t>Field team &amp; domain experts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5B6F62"/>
                </a:solidFill>
                <a:latin typeface="Calibri"/>
              </a:rPr>
              <a:t>Aranya Carbon  ·  Team WeTookAi'sJob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7D32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F2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E7D32"/>
                </a:solidFill>
                <a:latin typeface="Calibri"/>
              </a:rPr>
              <a:t>WHAT WE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0F3D2E"/>
                </a:solidFill>
                <a:latin typeface="Calibri"/>
              </a:rPr>
              <a:t>Key Activities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1371600" cy="64008"/>
          </a:xfrm>
          <a:prstGeom prst="roundRect">
            <a:avLst/>
          </a:prstGeom>
          <a:solidFill>
            <a:srgbClr val="F2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468880"/>
            <a:ext cx="2377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E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2468880"/>
            <a:ext cx="2377440" cy="10972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64792" y="2743200"/>
            <a:ext cx="585216" cy="585216"/>
          </a:xfrm>
          <a:prstGeom prst="roundRect">
            <a:avLst>
              <a:gd name="adj" fmla="val 6000"/>
            </a:avLst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64792" y="2743200"/>
            <a:ext cx="585216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474720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0">
                <a:solidFill>
                  <a:srgbClr val="1B5E20"/>
                </a:solidFill>
                <a:latin typeface="Calibri"/>
              </a:rPr>
              <a:t>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16052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>
                <a:solidFill>
                  <a:srgbClr val="0F3D2E"/>
                </a:solidFill>
                <a:latin typeface="Calibri"/>
              </a:rPr>
              <a:t>Community onboarding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>
                <a:solidFill>
                  <a:srgbClr val="0F3D2E"/>
                </a:solidFill>
                <a:latin typeface="Calibri"/>
              </a:rPr>
              <a:t>&amp; mapping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2468880"/>
            <a:ext cx="411480" cy="2651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2A825"/>
                </a:solidFill>
                <a:latin typeface="Calibri"/>
              </a:rPr>
              <a:t>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0" y="2468880"/>
            <a:ext cx="2377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E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657600" y="2468880"/>
            <a:ext cx="2377440" cy="10972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53712" y="2743200"/>
            <a:ext cx="585216" cy="585216"/>
          </a:xfrm>
          <a:prstGeom prst="roundRect">
            <a:avLst>
              <a:gd name="adj" fmla="val 6000"/>
            </a:avLst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3712" y="2743200"/>
            <a:ext cx="585216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3474720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0">
                <a:solidFill>
                  <a:srgbClr val="1B5E20"/>
                </a:solidFill>
                <a:latin typeface="Calibri"/>
              </a:rPr>
              <a:t>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40" y="416052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>
                <a:solidFill>
                  <a:srgbClr val="0F3D2E"/>
                </a:solidFill>
                <a:latin typeface="Calibri"/>
              </a:rPr>
              <a:t>Carbon measurement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>
                <a:solidFill>
                  <a:srgbClr val="0F3D2E"/>
                </a:solidFill>
                <a:latin typeface="Calibri"/>
              </a:rPr>
              <a:t>&amp; PDD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468880"/>
            <a:ext cx="411480" cy="2651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2A825"/>
                </a:solidFill>
                <a:latin typeface="Calibri"/>
              </a:rPr>
              <a:t>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46520" y="2468880"/>
            <a:ext cx="2377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E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46520" y="2468880"/>
            <a:ext cx="2377440" cy="10972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42632" y="2743200"/>
            <a:ext cx="585216" cy="585216"/>
          </a:xfrm>
          <a:prstGeom prst="roundRect">
            <a:avLst>
              <a:gd name="adj" fmla="val 6000"/>
            </a:avLst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42632" y="2743200"/>
            <a:ext cx="585216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3474720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0">
                <a:solidFill>
                  <a:srgbClr val="1B5E20"/>
                </a:solidFill>
                <a:latin typeface="Calibri"/>
              </a:rPr>
              <a:t>🛰️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16052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>
                <a:solidFill>
                  <a:srgbClr val="0F3D2E"/>
                </a:solidFill>
                <a:latin typeface="Calibri"/>
              </a:rPr>
              <a:t>Monitoring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>
                <a:solidFill>
                  <a:srgbClr val="0F3D2E"/>
                </a:solidFill>
                <a:latin typeface="Calibri"/>
              </a:rPr>
              <a:t>&amp; verification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3960" y="2468880"/>
            <a:ext cx="411480" cy="2651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2A825"/>
                </a:solidFill>
                <a:latin typeface="Calibri"/>
              </a:rPr>
              <a:t>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235440" y="2468880"/>
            <a:ext cx="2377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E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235440" y="2468880"/>
            <a:ext cx="2377440" cy="10972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131552" y="2743200"/>
            <a:ext cx="585216" cy="585216"/>
          </a:xfrm>
          <a:prstGeom prst="roundRect">
            <a:avLst>
              <a:gd name="adj" fmla="val 6000"/>
            </a:avLst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31552" y="2743200"/>
            <a:ext cx="585216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3474720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0">
                <a:solidFill>
                  <a:srgbClr val="1B5E20"/>
                </a:solidFill>
                <a:latin typeface="Calibri"/>
              </a:rPr>
              <a:t>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416052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>
                <a:solidFill>
                  <a:srgbClr val="0F3D2E"/>
                </a:solidFill>
                <a:latin typeface="Calibri"/>
              </a:rPr>
              <a:t>Marketplace sales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>
                <a:solidFill>
                  <a:srgbClr val="0F3D2E"/>
                </a:solidFill>
                <a:latin typeface="Calibri"/>
              </a:rPr>
              <a:t>&amp; payouts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544068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5B6F62"/>
                </a:solidFill>
                <a:latin typeface="Calibri"/>
              </a:rPr>
              <a:t>A continuous cycle  ·  onboard → measure → monitor → sell → repeat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5B6F62"/>
                </a:solidFill>
                <a:latin typeface="Calibri"/>
              </a:rPr>
              <a:t>Aranya Carbon  ·  Team WeTookAi'sJob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7D32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F2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E7D32"/>
                </a:solidFill>
                <a:latin typeface="Calibri"/>
              </a:rPr>
              <a:t>WHO WE WORK WITH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0F3D2E"/>
                </a:solidFill>
                <a:latin typeface="Calibri"/>
              </a:rPr>
              <a:t>Key Partners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1371600" cy="64008"/>
          </a:xfrm>
          <a:prstGeom prst="roundRect">
            <a:avLst/>
          </a:prstGeom>
          <a:solidFill>
            <a:srgbClr val="F2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240280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E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240280"/>
            <a:ext cx="2514600" cy="109728"/>
          </a:xfrm>
          <a:prstGeom prst="roundRect">
            <a:avLst>
              <a:gd name="adj" fmla="val 6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14600"/>
            <a:ext cx="2514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0">
                <a:solidFill>
                  <a:srgbClr val="1B5E20"/>
                </a:solidFill>
                <a:latin typeface="Calibri"/>
              </a:rPr>
              <a:t>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319272"/>
            <a:ext cx="2295144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0F3D2E"/>
                </a:solidFill>
                <a:latin typeface="Calibri"/>
              </a:rPr>
              <a:t>NGOs &amp; communities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5B6F62"/>
                </a:solidFill>
                <a:latin typeface="Calibri"/>
              </a:rPr>
              <a:t>Field relationships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2240280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E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11880" y="2240280"/>
            <a:ext cx="2514600" cy="109728"/>
          </a:xfrm>
          <a:prstGeom prst="roundRect">
            <a:avLst>
              <a:gd name="adj" fmla="val 6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2514600"/>
            <a:ext cx="2514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0">
                <a:solidFill>
                  <a:srgbClr val="1B5E20"/>
                </a:solidFill>
                <a:latin typeface="Calibri"/>
              </a:rPr>
              <a:t>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3319272"/>
            <a:ext cx="2295144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0F3D2E"/>
                </a:solidFill>
                <a:latin typeface="Calibri"/>
              </a:rPr>
              <a:t>Third-party verifiers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5B6F62"/>
                </a:solidFill>
                <a:latin typeface="Calibri"/>
              </a:rPr>
              <a:t>Audit &amp; validation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240280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E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0" y="2240280"/>
            <a:ext cx="2514600" cy="109728"/>
          </a:xfrm>
          <a:prstGeom prst="roundRect">
            <a:avLst>
              <a:gd name="adj" fmla="val 6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514600"/>
            <a:ext cx="2514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0">
                <a:solidFill>
                  <a:srgbClr val="1B5E20"/>
                </a:solidFill>
                <a:latin typeface="Calibri"/>
              </a:rPr>
              <a:t>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3319272"/>
            <a:ext cx="2295144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0F3D2E"/>
                </a:solidFill>
                <a:latin typeface="Calibri"/>
              </a:rPr>
              <a:t>Registries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5B6F62"/>
                </a:solidFill>
                <a:latin typeface="Calibri"/>
              </a:rPr>
              <a:t>Verra · Gold Standard · BEE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89720" y="2240280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E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89720" y="2240280"/>
            <a:ext cx="2514600" cy="109728"/>
          </a:xfrm>
          <a:prstGeom prst="roundRect">
            <a:avLst>
              <a:gd name="adj" fmla="val 6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9720" y="2514600"/>
            <a:ext cx="2514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0">
                <a:solidFill>
                  <a:srgbClr val="1B5E20"/>
                </a:solidFill>
                <a:latin typeface="Calibri"/>
              </a:rPr>
              <a:t>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9448" y="3319272"/>
            <a:ext cx="2295144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0F3D2E"/>
                </a:solidFill>
                <a:latin typeface="Calibri"/>
              </a:rPr>
              <a:t>Payment &amp; satellite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5B6F62"/>
                </a:solidFill>
                <a:latin typeface="Calibri"/>
              </a:rPr>
              <a:t>Providers &amp;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5B6F62"/>
                </a:solidFill>
                <a:latin typeface="Calibri"/>
              </a:rPr>
              <a:t>Aranya Carbon  ·  Team WeTookAi'sJob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7D32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F2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E7D32"/>
                </a:solidFill>
                <a:latin typeface="Calibri"/>
              </a:rPr>
              <a:t>WHAT IT COSTS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0F3D2E"/>
                </a:solidFill>
                <a:latin typeface="Calibri"/>
              </a:rPr>
              <a:t>Cost Structure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1371600" cy="64008"/>
          </a:xfrm>
          <a:prstGeom prst="roundRect">
            <a:avLst/>
          </a:prstGeom>
          <a:solidFill>
            <a:srgbClr val="F2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148840"/>
            <a:ext cx="1051560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E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148840"/>
            <a:ext cx="91440" cy="676656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148840"/>
            <a:ext cx="8686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1B5E20"/>
                </a:solidFill>
                <a:latin typeface="Calibri"/>
              </a:rPr>
              <a:t>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2148840"/>
            <a:ext cx="91897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222B25"/>
                </a:solidFill>
                <a:latin typeface="Calibri"/>
              </a:rPr>
              <a:t>Field operations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08376"/>
            <a:ext cx="1051560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E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3008376"/>
            <a:ext cx="91440" cy="676656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008376"/>
            <a:ext cx="8686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1B5E20"/>
                </a:solidFill>
                <a:latin typeface="Calibri"/>
              </a:rPr>
              <a:t>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3008376"/>
            <a:ext cx="91897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222B25"/>
                </a:solidFill>
                <a:latin typeface="Calibri"/>
              </a:rPr>
              <a:t>Technology &amp; infrastructure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867912"/>
            <a:ext cx="1051560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E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3867912"/>
            <a:ext cx="91440" cy="676656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867912"/>
            <a:ext cx="8686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1B5E20"/>
                </a:solidFill>
                <a:latin typeface="Calibri"/>
              </a:rPr>
              <a:t>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3867912"/>
            <a:ext cx="91897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222B25"/>
                </a:solidFill>
                <a:latin typeface="Calibri"/>
              </a:rPr>
              <a:t>Salaries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727448"/>
            <a:ext cx="1051560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E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0" y="4727448"/>
            <a:ext cx="91440" cy="676656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727448"/>
            <a:ext cx="8686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1B5E20"/>
                </a:solidFill>
                <a:latin typeface="Calibri"/>
              </a:rPr>
              <a:t>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4727448"/>
            <a:ext cx="91897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222B25"/>
                </a:solidFill>
                <a:latin typeface="Calibri"/>
              </a:rPr>
              <a:t>Sales &amp; marketing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5586984"/>
            <a:ext cx="1051560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E9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2960" y="5586984"/>
            <a:ext cx="91440" cy="676656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586984"/>
            <a:ext cx="8686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1B5E20"/>
                </a:solidFill>
                <a:latin typeface="Calibri"/>
              </a:rPr>
              <a:t>⚖️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5960" y="5586984"/>
            <a:ext cx="91897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222B25"/>
                </a:solidFill>
                <a:latin typeface="Calibri"/>
              </a:rPr>
              <a:t>Admin &amp; legal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5B6F62"/>
                </a:solidFill>
                <a:latin typeface="Calibri"/>
              </a:rPr>
              <a:t>Aranya Carbon  ·  Team WeTookAi'sJob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7D32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