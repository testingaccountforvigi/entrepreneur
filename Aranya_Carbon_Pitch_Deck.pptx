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gradFill>
            <a:gsLst>
              <a:gs pos="0">
                <a:srgbClr val="0A2A1E"/>
              </a:gs>
              <a:gs pos="55000">
                <a:srgbClr val="103A28"/>
              </a:gs>
              <a:gs pos="100000">
                <a:srgbClr val="16532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e-pine_fc4b10bb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914400"/>
            <a:ext cx="4206240" cy="4206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778240" y="822960"/>
            <a:ext cx="4480560" cy="4937760"/>
          </a:xfrm>
          <a:prstGeom prst="rect">
            <a:avLst/>
          </a:prstGeom>
          <a:gradFill>
            <a:gsLst>
              <a:gs pos="0">
                <a:srgbClr val="0A2A1E"/>
              </a:gs>
              <a:gs pos="100000">
                <a:srgbClr val="16532F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f_55f329f3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0"/>
            <a:ext cx="27432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41264" y="1234440"/>
            <a:ext cx="1115568" cy="1115568"/>
          </a:xfrm>
          <a:prstGeom prst="ellipse">
            <a:avLst/>
          </a:prstGeom>
          <a:solidFill>
            <a:srgbClr val="103A28"/>
          </a:solidFill>
          <a:ln w="20320">
            <a:solidFill>
              <a:srgbClr val="1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ee-pine_3f58665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17904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2542032"/>
            <a:ext cx="121916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Poppins"/>
              </a:rPr>
              <a:t>Aranya Carbon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9807" y="3657600"/>
            <a:ext cx="5212080" cy="566928"/>
          </a:xfrm>
          <a:prstGeom prst="roundRect">
            <a:avLst>
              <a:gd name="adj" fmla="val 50000"/>
            </a:avLst>
          </a:prstGeom>
          <a:solidFill>
            <a:srgbClr val="10402B"/>
          </a:solidFill>
          <a:ln w="16510">
            <a:solidFill>
              <a:srgbClr val="1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lobe_39186d79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703" y="380390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47007" y="365760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The Stripe of Indian community carbon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 i="0">
                <a:solidFill>
                  <a:srgbClr val="C9DCCE"/>
                </a:solidFill>
                <a:latin typeface="Inter"/>
              </a:rPr>
              <a:t>Forests store carbon. Communities earn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2764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120">
                <a:solidFill>
                  <a:srgbClr val="9FBCA9"/>
                </a:solidFill>
                <a:latin typeface="Inter"/>
              </a:rPr>
              <a:t>Team WeTookAi'sJob   ·   Business Model Canvas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WHO WE 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Customer Segments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2057400"/>
            <a:ext cx="2379726" cy="3611880"/>
          </a:xfrm>
          <a:prstGeom prst="roundRect">
            <a:avLst>
              <a:gd name="adj" fmla="val 6916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057400"/>
            <a:ext cx="2379726" cy="118872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ee-pine_43e7c00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43" y="2643347"/>
            <a:ext cx="474024" cy="474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144" y="3538728"/>
            <a:ext cx="175793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0C2A1F"/>
                </a:solidFill>
                <a:latin typeface="Poppins"/>
              </a:rPr>
              <a:t>Forest communities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5E7167"/>
                </a:solidFill>
                <a:latin typeface="Inter"/>
              </a:rPr>
              <a:t>Gram panchayats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0158" y="2057400"/>
            <a:ext cx="2379726" cy="3611880"/>
          </a:xfrm>
          <a:prstGeom prst="roundRect">
            <a:avLst>
              <a:gd name="adj" fmla="val 6916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50158" y="2057400"/>
            <a:ext cx="2379726" cy="118872"/>
          </a:xfrm>
          <a:prstGeom prst="roundRect">
            <a:avLst>
              <a:gd name="adj" fmla="val 46153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6105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uilding-2_ed7cc348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953" y="2643347"/>
            <a:ext cx="474024" cy="4740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61054" y="3538728"/>
            <a:ext cx="175793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0C2A1F"/>
                </a:solidFill>
                <a:latin typeface="Poppins"/>
              </a:rPr>
              <a:t>Corporates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5E7167"/>
                </a:solidFill>
                <a:latin typeface="Inter"/>
              </a:rPr>
              <a:t>With net-zero goals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2057400"/>
            <a:ext cx="2379726" cy="3611880"/>
          </a:xfrm>
          <a:prstGeom prst="roundRect">
            <a:avLst>
              <a:gd name="adj" fmla="val 6916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9068" y="2057400"/>
            <a:ext cx="2379726" cy="118872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996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ndshake_f50a278e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863" y="2643347"/>
            <a:ext cx="474024" cy="4740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69964" y="3538728"/>
            <a:ext cx="175793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0C2A1F"/>
                </a:solidFill>
                <a:latin typeface="Poppins"/>
              </a:rPr>
              <a:t>NGOs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5E7167"/>
                </a:solidFill>
                <a:latin typeface="Inter"/>
              </a:rPr>
              <a:t>&amp; forest departments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7978" y="2057400"/>
            <a:ext cx="2379726" cy="3611880"/>
          </a:xfrm>
          <a:prstGeom prst="roundRect">
            <a:avLst>
              <a:gd name="adj" fmla="val 6916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7978" y="2057400"/>
            <a:ext cx="2379726" cy="11887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7887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F4E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ins_e332e50f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773" y="2643347"/>
            <a:ext cx="474024" cy="4740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78874" y="3538728"/>
            <a:ext cx="1757934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0C2A1F"/>
                </a:solidFill>
                <a:latin typeface="Poppins"/>
              </a:rPr>
              <a:t>Institutional buyers</a:t>
            </a:r>
          </a:p>
          <a:p>
            <a:pPr algn="l">
              <a:spcBef>
                <a:spcPts val="500"/>
              </a:spcBef>
            </a:pPr>
            <a:r>
              <a:rPr sz="1150" b="0">
                <a:solidFill>
                  <a:srgbClr val="5E7167"/>
                </a:solidFill>
                <a:latin typeface="Inter"/>
              </a:rPr>
              <a:t>Carbon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Value Proposition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29968"/>
            <a:ext cx="10506456" cy="841248"/>
          </a:xfrm>
          <a:prstGeom prst="roundRect">
            <a:avLst>
              <a:gd name="adj" fmla="val 17391"/>
            </a:avLst>
          </a:prstGeom>
          <a:gradFill>
            <a:gsLst>
              <a:gs pos="0">
                <a:srgbClr val="0C2A1F"/>
              </a:gs>
              <a:gs pos="100000">
                <a:srgbClr val="17402B"/>
              </a:gs>
            </a:gsLst>
            <a:lin ang="0" scaled="1"/>
          </a:gradFill>
          <a:ln>
            <a:noFill/>
          </a:ln>
          <a:effectLst>
            <a:outerShdw blurRad="91440" dist="45720" dir="5400000" rotWithShape="0">
              <a:srgbClr val="0C2A1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221284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1C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nk-2_45ff3b1c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30" y="2322210"/>
            <a:ext cx="256763" cy="2567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2029968"/>
            <a:ext cx="93268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C2912E"/>
                </a:solidFill>
                <a:latin typeface="Inter"/>
              </a:rPr>
              <a:t>Problem:  </a:t>
            </a:r>
            <a:r>
              <a:rPr sz="1650" b="1">
                <a:solidFill>
                  <a:srgbClr val="FFFFFF"/>
                </a:solidFill>
                <a:latin typeface="Poppins"/>
              </a:rPr>
              <a:t>Verification costs too much, takes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154680"/>
            <a:ext cx="5102352" cy="269748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9728" dist="50292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154680"/>
            <a:ext cx="5102352" cy="128016"/>
          </a:xfrm>
          <a:prstGeom prst="roundRect">
            <a:avLst>
              <a:gd name="adj" fmla="val 50000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07008" y="3611880"/>
            <a:ext cx="960120" cy="960120"/>
          </a:xfrm>
          <a:prstGeom prst="roundRect">
            <a:avLst>
              <a:gd name="adj" fmla="val 22857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e-pine_43e7c00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35" y="3832707"/>
            <a:ext cx="518464" cy="518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7008" y="4727448"/>
            <a:ext cx="43708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C2A1F"/>
                </a:solidFill>
                <a:latin typeface="Poppins"/>
              </a:rPr>
              <a:t>For forest owners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5E7167"/>
                </a:solidFill>
                <a:latin typeface="Inter"/>
              </a:rPr>
              <a:t>Direct income, zero upfront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154680"/>
            <a:ext cx="5102352" cy="269748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9728" dist="50292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3154680"/>
            <a:ext cx="5102352" cy="128016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0256" y="3611880"/>
            <a:ext cx="960120" cy="960120"/>
          </a:xfrm>
          <a:prstGeom prst="roundRect">
            <a:avLst>
              <a:gd name="adj" fmla="val 22857"/>
            </a:avLst>
          </a:prstGeom>
          <a:solidFill>
            <a:srgbClr val="F4E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ilding_4a3ea94b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083" y="3832707"/>
            <a:ext cx="518464" cy="518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0256" y="4727448"/>
            <a:ext cx="43708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C2A1F"/>
                </a:solidFill>
                <a:latin typeface="Poppins"/>
              </a:rPr>
              <a:t>For corporate buyers</a:t>
            </a:r>
          </a:p>
          <a:p>
            <a:pPr algn="l">
              <a:spcBef>
                <a:spcPts val="700"/>
              </a:spcBef>
            </a:pPr>
            <a:r>
              <a:rPr sz="1450" b="0">
                <a:solidFill>
                  <a:srgbClr val="5E7167"/>
                </a:solidFill>
                <a:latin typeface="Inter"/>
              </a:rPr>
              <a:t>Traceable Indian community 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HOW WE REACH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2010537" y="3291839"/>
            <a:ext cx="8167878" cy="0"/>
          </a:xfrm>
          <a:prstGeom prst="line">
            <a:avLst/>
          </a:prstGeom>
          <a:ln w="27940">
            <a:solidFill>
              <a:srgbClr val="D7E1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423160"/>
            <a:ext cx="2338578" cy="3017520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6609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2912E"/>
                </a:solidFill>
                <a:latin typeface="Poppins"/>
              </a:rPr>
              <a:t>01</a:t>
            </a:r>
          </a:p>
        </p:txBody>
      </p:sp>
      <p:sp>
        <p:nvSpPr>
          <p:cNvPr id="12" name="Oval 11"/>
          <p:cNvSpPr/>
          <p:nvPr/>
        </p:nvSpPr>
        <p:spPr>
          <a:xfrm>
            <a:off x="1471041" y="2990088"/>
            <a:ext cx="1078992" cy="1078992"/>
          </a:xfrm>
          <a:prstGeom prst="ellipse">
            <a:avLst/>
          </a:prstGeom>
          <a:solidFill>
            <a:srgbClr val="E7F0E8"/>
          </a:solidFill>
          <a:ln w="15240">
            <a:solidFill>
              <a:srgbClr val="FFFFFF"/>
            </a:solidFill>
          </a:ln>
          <a:effectLst>
            <a:outerShdw blurRad="73152" dist="27432" dir="5400000" rotWithShape="0">
              <a:srgbClr val="0C2A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ndshake_f50a278e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09" y="3238256"/>
            <a:ext cx="582655" cy="5826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" y="4343400"/>
            <a:ext cx="197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C2A1F"/>
                </a:solidFill>
                <a:latin typeface="Poppins"/>
              </a:rPr>
              <a:t>NGO partner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5546" y="29992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2A06A"/>
                </a:solidFill>
                <a:latin typeface="Poppin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3874" y="2423160"/>
            <a:ext cx="2338578" cy="3017520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6482" y="26609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2912E"/>
                </a:solidFill>
                <a:latin typeface="Poppins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4193666" y="2990088"/>
            <a:ext cx="1078992" cy="1078992"/>
          </a:xfrm>
          <a:prstGeom prst="ellipse">
            <a:avLst/>
          </a:prstGeom>
          <a:solidFill>
            <a:srgbClr val="E7F0E8"/>
          </a:solidFill>
          <a:ln w="15240">
            <a:solidFill>
              <a:srgbClr val="FFFFFF"/>
            </a:solidFill>
          </a:ln>
          <a:effectLst>
            <a:outerShdw blurRad="73152" dist="27432" dir="5400000" rotWithShape="0">
              <a:srgbClr val="0C2A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ootprints_286a50a7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35" y="3238256"/>
            <a:ext cx="582655" cy="5826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46754" y="4343400"/>
            <a:ext cx="197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C2A1F"/>
                </a:solidFill>
                <a:latin typeface="Poppins"/>
              </a:rPr>
              <a:t>Field operations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8172" y="29992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2A06A"/>
                </a:solidFill>
                <a:latin typeface="Poppi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0" y="2423160"/>
            <a:ext cx="2338578" cy="3017520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9108" y="26609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2912E"/>
                </a:solidFill>
                <a:latin typeface="Poppins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6916293" y="2990088"/>
            <a:ext cx="1078992" cy="1078992"/>
          </a:xfrm>
          <a:prstGeom prst="ellipse">
            <a:avLst/>
          </a:prstGeom>
          <a:solidFill>
            <a:srgbClr val="E7F0E8"/>
          </a:solidFill>
          <a:ln w="15240">
            <a:solidFill>
              <a:srgbClr val="FFFFFF"/>
            </a:solidFill>
          </a:ln>
          <a:effectLst>
            <a:outerShdw blurRad="73152" dist="27432" dir="5400000" rotWithShape="0">
              <a:srgbClr val="0C2A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onitor_54c6908c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461" y="3238256"/>
            <a:ext cx="582655" cy="5826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69380" y="4343400"/>
            <a:ext cx="197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C2A1F"/>
                </a:solidFill>
                <a:latin typeface="Poppins"/>
              </a:rPr>
              <a:t>B2B credit marketplace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0798" y="29992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2A06A"/>
                </a:solidFill>
                <a:latin typeface="Poppin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9126" y="2423160"/>
            <a:ext cx="2338578" cy="3017520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1734" y="26609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2912E"/>
                </a:solidFill>
                <a:latin typeface="Poppins"/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9638919" y="2990088"/>
            <a:ext cx="1078992" cy="1078992"/>
          </a:xfrm>
          <a:prstGeom prst="ellipse">
            <a:avLst/>
          </a:prstGeom>
          <a:solidFill>
            <a:srgbClr val="E7F0E8"/>
          </a:solidFill>
          <a:ln w="15240">
            <a:solidFill>
              <a:srgbClr val="FFFFFF"/>
            </a:solidFill>
          </a:ln>
          <a:effectLst>
            <a:outerShdw blurRad="73152" dist="27432" dir="5400000" rotWithShape="0">
              <a:srgbClr val="0C2A1F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r-chart-3_fc8d81ec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7087" y="3238256"/>
            <a:ext cx="582655" cy="5826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92006" y="4343400"/>
            <a:ext cx="19728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C2A1F"/>
                </a:solidFill>
                <a:latin typeface="Poppins"/>
              </a:rPr>
              <a:t>Corporate ESG outreach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TRUST &amp;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Customer Relationships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2148840"/>
            <a:ext cx="1050645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148840"/>
            <a:ext cx="118872" cy="86868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2997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lobe_56715521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37" y="2430109"/>
            <a:ext cx="306141" cy="306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38528" y="2148840"/>
            <a:ext cx="84947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B23"/>
                </a:solidFill>
                <a:latin typeface="Poppins"/>
              </a:rPr>
              <a:t>Local-language field support</a:t>
            </a:r>
          </a:p>
        </p:txBody>
      </p:sp>
      <p:pic>
        <p:nvPicPr>
          <p:cNvPr id="14" name="Picture 13" descr="badge-check_85379be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2391156"/>
            <a:ext cx="384048" cy="3840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41248" y="3255264"/>
            <a:ext cx="1050645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255264"/>
            <a:ext cx="118872" cy="86868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52144" y="34061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nknote_2a71adc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537" y="3536533"/>
            <a:ext cx="306141" cy="30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38528" y="3255264"/>
            <a:ext cx="84947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B23"/>
                </a:solidFill>
                <a:latin typeface="Poppins"/>
              </a:rPr>
              <a:t>Transparent direct payouts</a:t>
            </a:r>
          </a:p>
        </p:txBody>
      </p:sp>
      <p:pic>
        <p:nvPicPr>
          <p:cNvPr id="20" name="Picture 19" descr="badge-check_85379be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3497580"/>
            <a:ext cx="384048" cy="38404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4361688"/>
            <a:ext cx="1050645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4361688"/>
            <a:ext cx="118872" cy="86868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52144" y="451256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atellite-dish_4473de9a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537" y="4642957"/>
            <a:ext cx="306141" cy="30614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38528" y="4361688"/>
            <a:ext cx="84947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B23"/>
                </a:solidFill>
                <a:latin typeface="Poppins"/>
              </a:rPr>
              <a:t>Live satellite monitoring</a:t>
            </a:r>
          </a:p>
        </p:txBody>
      </p:sp>
      <p:pic>
        <p:nvPicPr>
          <p:cNvPr id="26" name="Picture 25" descr="badge-check_85379be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4604003"/>
            <a:ext cx="384048" cy="38404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41248" y="5468112"/>
            <a:ext cx="1050645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5468112"/>
            <a:ext cx="118872" cy="86868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52144" y="561898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user-round_001dbf8f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537" y="5749381"/>
            <a:ext cx="306141" cy="30614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38528" y="5468112"/>
            <a:ext cx="84947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B23"/>
                </a:solidFill>
                <a:latin typeface="Poppins"/>
              </a:rPr>
              <a:t>Dedicated buyer accounts</a:t>
            </a:r>
          </a:p>
        </p:txBody>
      </p:sp>
      <p:pic>
        <p:nvPicPr>
          <p:cNvPr id="32" name="Picture 31" descr="badge-check_85379be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5710428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HOW WE 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Revenue Streams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1947672"/>
            <a:ext cx="2379726" cy="3877056"/>
          </a:xfrm>
          <a:prstGeom prst="roundRect">
            <a:avLst>
              <a:gd name="adj" fmla="val 7684"/>
            </a:avLst>
          </a:prstGeom>
          <a:gradFill>
            <a:gsLst>
              <a:gs pos="0">
                <a:srgbClr val="103A28"/>
              </a:gs>
              <a:gs pos="100000">
                <a:srgbClr val="17532F"/>
              </a:gs>
            </a:gsLst>
            <a:lin ang="7200000" scaled="1"/>
          </a:gradFill>
          <a:ln>
            <a:noFill/>
          </a:ln>
          <a:effectLst>
            <a:outerShdw blurRad="128016" dist="64008" dir="5400000" rotWithShape="0">
              <a:srgbClr val="0C2A1F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947672"/>
            <a:ext cx="2379726" cy="128016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1C4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ircle-dollar-sign_5e61a556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43" y="2643347"/>
            <a:ext cx="474024" cy="474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144" y="3520439"/>
            <a:ext cx="175793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</a:rPr>
              <a:t>Credit sale commission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" y="5184648"/>
            <a:ext cx="1757934" cy="420624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5184648"/>
            <a:ext cx="175793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C2A1F"/>
                </a:solidFill>
                <a:latin typeface="Inter"/>
              </a:rPr>
              <a:t>18% primary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0158" y="2057400"/>
            <a:ext cx="2379726" cy="3657600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6105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tellite-dish_4473de9a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953" y="2643347"/>
            <a:ext cx="474024" cy="474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61054" y="3520439"/>
            <a:ext cx="175793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C2A1F"/>
                </a:solidFill>
                <a:latin typeface="Poppins"/>
              </a:rPr>
              <a:t>Monitoring subscriptions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1054" y="5074920"/>
            <a:ext cx="1757934" cy="42062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1054" y="5074920"/>
            <a:ext cx="175793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C7F54"/>
                </a:solidFill>
                <a:latin typeface="Inter"/>
              </a:rPr>
              <a:t>Annual per project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2057400"/>
            <a:ext cx="2379726" cy="3657600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6996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uzzle_9c024f2c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863" y="2643347"/>
            <a:ext cx="474024" cy="4740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69964" y="3520439"/>
            <a:ext cx="175793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C2A1F"/>
                </a:solidFill>
                <a:latin typeface="Poppins"/>
              </a:rPr>
              <a:t>NGO SaaS subscriptions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9964" y="5074920"/>
            <a:ext cx="1757934" cy="42062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9964" y="5074920"/>
            <a:ext cx="175793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C7F54"/>
                </a:solidFill>
                <a:latin typeface="Inter"/>
              </a:rPr>
              <a:t>Monthly platform fee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7978" y="2057400"/>
            <a:ext cx="2379726" cy="3657600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8874" y="2441448"/>
            <a:ext cx="877824" cy="877824"/>
          </a:xfrm>
          <a:prstGeom prst="roundRect">
            <a:avLst>
              <a:gd name="adj" fmla="val 22916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uilding_951f867bd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773" y="2643347"/>
            <a:ext cx="474024" cy="4740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78874" y="3520439"/>
            <a:ext cx="175793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C2A1F"/>
                </a:solidFill>
                <a:latin typeface="Poppins"/>
              </a:rPr>
              <a:t>Enterprise buyer subs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78874" y="5074920"/>
            <a:ext cx="1757934" cy="420624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8874" y="5074920"/>
            <a:ext cx="175793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C7F54"/>
                </a:solidFill>
                <a:latin typeface="Inter"/>
              </a:rPr>
              <a:t>Priority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WHAT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Key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2103120"/>
            <a:ext cx="5088636" cy="1691640"/>
          </a:xfrm>
          <a:prstGeom prst="roundRect">
            <a:avLst>
              <a:gd name="adj" fmla="val 972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103120"/>
            <a:ext cx="118872" cy="169164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2468879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nitor_54c6908c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123" y="2689707"/>
            <a:ext cx="518464" cy="518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14016" y="2103120"/>
            <a:ext cx="3259836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 i="0">
                <a:solidFill>
                  <a:srgbClr val="0C2A1F"/>
                </a:solidFill>
                <a:latin typeface="Poppins"/>
              </a:rPr>
              <a:t>Digital platform &amp;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9068" y="2103120"/>
            <a:ext cx="5088636" cy="1691640"/>
          </a:xfrm>
          <a:prstGeom prst="roundRect">
            <a:avLst>
              <a:gd name="adj" fmla="val 972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9068" y="2103120"/>
            <a:ext cx="118872" cy="169164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43116" y="2468879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atellite-dish_4473de9a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943" y="2689707"/>
            <a:ext cx="518464" cy="518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31836" y="2103120"/>
            <a:ext cx="3259836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 i="0">
                <a:solidFill>
                  <a:srgbClr val="0C2A1F"/>
                </a:solidFill>
                <a:latin typeface="Poppins"/>
              </a:rPr>
              <a:t>Satellite &amp; geospatial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087368"/>
            <a:ext cx="5088636" cy="1691640"/>
          </a:xfrm>
          <a:prstGeom prst="roundRect">
            <a:avLst>
              <a:gd name="adj" fmla="val 972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087368"/>
            <a:ext cx="118872" cy="169164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5296" y="4453128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pu_d10fcaa6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123" y="4673955"/>
            <a:ext cx="518464" cy="518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414016" y="4087368"/>
            <a:ext cx="3259836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 i="0">
                <a:solidFill>
                  <a:srgbClr val="0C2A1F"/>
                </a:solidFill>
                <a:latin typeface="Poppins"/>
              </a:rPr>
              <a:t>Carbon data &amp; AI 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9068" y="4087368"/>
            <a:ext cx="5088636" cy="1691640"/>
          </a:xfrm>
          <a:prstGeom prst="roundRect">
            <a:avLst>
              <a:gd name="adj" fmla="val 972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9068" y="4087368"/>
            <a:ext cx="118872" cy="1691640"/>
          </a:xfrm>
          <a:prstGeom prst="roundRect">
            <a:avLst>
              <a:gd name="adj" fmla="val 46153"/>
            </a:avLst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43116" y="4453128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users_7cc76672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43" y="4673955"/>
            <a:ext cx="518464" cy="5184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31836" y="4087368"/>
            <a:ext cx="3259836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 i="0">
                <a:solidFill>
                  <a:srgbClr val="0C2A1F"/>
                </a:solidFill>
                <a:latin typeface="Poppins"/>
              </a:rPr>
              <a:t>Field team &amp; domain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Key Activities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0870" y="2103120"/>
            <a:ext cx="3749039" cy="3749039"/>
          </a:xfrm>
          <a:prstGeom prst="ellipse">
            <a:avLst/>
          </a:prstGeom>
          <a:noFill/>
          <a:ln w="25400">
            <a:solidFill>
              <a:srgbClr val="D7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9590" y="3291839"/>
            <a:ext cx="1371600" cy="1371600"/>
          </a:xfrm>
          <a:prstGeom prst="ellipse">
            <a:avLst/>
          </a:prstGeom>
          <a:gradFill>
            <a:gsLst>
              <a:gs pos="0">
                <a:srgbClr val="12462C"/>
              </a:gs>
              <a:gs pos="100000">
                <a:srgbClr val="0C2A1F"/>
              </a:gs>
            </a:gsLst>
            <a:lin ang="5400000" scaled="1"/>
          </a:gradFill>
          <a:ln>
            <a:noFill/>
          </a:ln>
          <a:effectLst>
            <a:outerShdw blurRad="109728" dist="45720" dir="5400000" rotWithShape="0">
              <a:srgbClr val="0C2A1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eat_0d12308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94" y="3520439"/>
            <a:ext cx="621792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72430" y="414223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oppins"/>
              </a:rPr>
              <a:t>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430" y="43616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CCE"/>
                </a:solidFill>
                <a:latin typeface="Inter"/>
              </a:rPr>
              <a:t>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5210" y="914399"/>
            <a:ext cx="288036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91440" dist="41148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56378" y="1115567"/>
            <a:ext cx="676656" cy="676656"/>
          </a:xfrm>
          <a:prstGeom prst="roundRect">
            <a:avLst>
              <a:gd name="adj" fmla="val 24324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pin_44f543cb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009" y="1271198"/>
            <a:ext cx="365394" cy="365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42762" y="914399"/>
            <a:ext cx="1746504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2A1F"/>
                </a:solidFill>
                <a:latin typeface="Poppins"/>
              </a:rPr>
              <a:t>Community onboarding &amp; mapping</a:t>
            </a:r>
          </a:p>
        </p:txBody>
      </p:sp>
      <p:sp>
        <p:nvSpPr>
          <p:cNvPr id="17" name="Oval 16"/>
          <p:cNvSpPr/>
          <p:nvPr/>
        </p:nvSpPr>
        <p:spPr>
          <a:xfrm>
            <a:off x="5912510" y="1920239"/>
            <a:ext cx="365760" cy="36576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2510" y="1911095"/>
            <a:ext cx="365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C2A1F"/>
                </a:solidFill>
                <a:latin typeface="Poppin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4502" y="3438144"/>
            <a:ext cx="288036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91440" dist="41148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5670" y="3639311"/>
            <a:ext cx="676656" cy="676656"/>
          </a:xfrm>
          <a:prstGeom prst="roundRect">
            <a:avLst>
              <a:gd name="adj" fmla="val 24324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ree-pine_43e7c00f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301" y="3794942"/>
            <a:ext cx="365394" cy="3653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22054" y="3438144"/>
            <a:ext cx="1746504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2A1F"/>
                </a:solidFill>
                <a:latin typeface="Poppins"/>
              </a:rPr>
              <a:t>Carbon measurement &amp; PDD</a:t>
            </a:r>
          </a:p>
        </p:txBody>
      </p:sp>
      <p:sp>
        <p:nvSpPr>
          <p:cNvPr id="23" name="Oval 22"/>
          <p:cNvSpPr/>
          <p:nvPr/>
        </p:nvSpPr>
        <p:spPr>
          <a:xfrm>
            <a:off x="7787030" y="3794759"/>
            <a:ext cx="365760" cy="36576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7030" y="3785615"/>
            <a:ext cx="365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C2A1F"/>
                </a:solidFill>
                <a:latin typeface="Poppin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5210" y="5961888"/>
            <a:ext cx="288036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91440" dist="41148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56378" y="6163055"/>
            <a:ext cx="676656" cy="676656"/>
          </a:xfrm>
          <a:prstGeom prst="roundRect">
            <a:avLst>
              <a:gd name="adj" fmla="val 24324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atellite-dish_4473de9a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009" y="6318686"/>
            <a:ext cx="365394" cy="3653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42762" y="5961888"/>
            <a:ext cx="1746504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2A1F"/>
                </a:solidFill>
                <a:latin typeface="Poppins"/>
              </a:rPr>
              <a:t>Monitoring &amp; verification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912510" y="5669279"/>
            <a:ext cx="365760" cy="36576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2510" y="5660136"/>
            <a:ext cx="365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C2A1F"/>
                </a:solidFill>
                <a:latin typeface="Poppins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5918" y="3438144"/>
            <a:ext cx="288036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91440" dist="41148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77086" y="3639311"/>
            <a:ext cx="676656" cy="676656"/>
          </a:xfrm>
          <a:prstGeom prst="roundRect">
            <a:avLst>
              <a:gd name="adj" fmla="val 24324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anknote_2a71adc5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717" y="3794942"/>
            <a:ext cx="365394" cy="3653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63470" y="3438144"/>
            <a:ext cx="1746504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2A1F"/>
                </a:solidFill>
                <a:latin typeface="Poppins"/>
              </a:rPr>
              <a:t>Marketplace sales &amp; payouts</a:t>
            </a:r>
          </a:p>
        </p:txBody>
      </p:sp>
      <p:sp>
        <p:nvSpPr>
          <p:cNvPr id="35" name="Oval 34"/>
          <p:cNvSpPr/>
          <p:nvPr/>
        </p:nvSpPr>
        <p:spPr>
          <a:xfrm>
            <a:off x="4037990" y="3794759"/>
            <a:ext cx="365760" cy="36576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37990" y="3785615"/>
            <a:ext cx="365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C2A1F"/>
                </a:solidFill>
                <a:latin typeface="Poppins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1760" y="6053328"/>
            <a:ext cx="6885432" cy="457200"/>
          </a:xfrm>
          <a:prstGeom prst="roundRect">
            <a:avLst>
              <a:gd name="adj" fmla="val 50000"/>
            </a:avLst>
          </a:prstGeom>
          <a:solidFill>
            <a:srgbClr val="EF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6053328"/>
            <a:ext cx="68854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532D"/>
                </a:solidFill>
                <a:latin typeface="Inter"/>
              </a:rPr>
              <a:t>A continuous cycle  ·  onboard → measure → monitor → sell → repeat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WHO WE WORK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Key Partners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327148" y="2971800"/>
            <a:ext cx="3768242" cy="1097280"/>
          </a:xfrm>
          <a:prstGeom prst="line">
            <a:avLst/>
          </a:prstGeom>
          <a:ln w="22860">
            <a:solidFill>
              <a:srgbClr val="D7E1D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95390" y="2971800"/>
            <a:ext cx="3766414" cy="1097280"/>
          </a:xfrm>
          <a:prstGeom prst="line">
            <a:avLst/>
          </a:prstGeom>
          <a:ln w="22860">
            <a:solidFill>
              <a:srgbClr val="D7E1D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27148" y="4069080"/>
            <a:ext cx="3768242" cy="1234440"/>
          </a:xfrm>
          <a:prstGeom prst="line">
            <a:avLst/>
          </a:prstGeom>
          <a:ln w="22860">
            <a:solidFill>
              <a:srgbClr val="D7E1D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390" y="4069080"/>
            <a:ext cx="3766414" cy="1234440"/>
          </a:xfrm>
          <a:prstGeom prst="line">
            <a:avLst/>
          </a:prstGeom>
          <a:ln w="22860">
            <a:solidFill>
              <a:srgbClr val="D7E1D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49570" y="3223260"/>
            <a:ext cx="1691640" cy="1691640"/>
          </a:xfrm>
          <a:prstGeom prst="ellipse">
            <a:avLst/>
          </a:prstGeom>
          <a:gradFill>
            <a:gsLst>
              <a:gs pos="0">
                <a:srgbClr val="12462C"/>
              </a:gs>
              <a:gs pos="100000">
                <a:srgbClr val="0C2A1F"/>
              </a:gs>
            </a:gsLst>
            <a:lin ang="5400000" scaled="1"/>
          </a:gradFill>
          <a:ln>
            <a:noFill/>
          </a:ln>
          <a:effectLst>
            <a:outerShdw blurRad="118872" dist="54864" dir="5400000" rotWithShape="0">
              <a:srgbClr val="0C2A1F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76418" y="3150108"/>
            <a:ext cx="1837944" cy="1837944"/>
          </a:xfrm>
          <a:prstGeom prst="ellipse">
            <a:avLst/>
          </a:prstGeom>
          <a:noFill/>
          <a:ln w="17780">
            <a:solidFill>
              <a:srgbClr val="12A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f_dbf85d1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342" y="359359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2430" y="4114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Aranya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2430" y="43616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Carbon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2286000"/>
            <a:ext cx="2971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15568" y="2551176"/>
            <a:ext cx="841248" cy="841248"/>
          </a:xfrm>
          <a:prstGeom prst="roundRect">
            <a:avLst>
              <a:gd name="adj" fmla="val 21739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andshake_f50a278e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55" y="2744663"/>
            <a:ext cx="454273" cy="454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39696" y="2596896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2A1F"/>
                </a:solidFill>
                <a:latin typeface="Poppins"/>
              </a:rPr>
              <a:t>NGOs &amp; communities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7167"/>
                </a:solidFill>
                <a:latin typeface="Inter"/>
              </a:rPr>
              <a:t>Field relationships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2286000"/>
            <a:ext cx="2971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50224" y="2551176"/>
            <a:ext cx="841248" cy="841248"/>
          </a:xfrm>
          <a:prstGeom prst="roundRect">
            <a:avLst>
              <a:gd name="adj" fmla="val 21739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adge-check_4c4e0787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711" y="2744663"/>
            <a:ext cx="454273" cy="454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74352" y="2596896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2A1F"/>
                </a:solidFill>
                <a:latin typeface="Poppins"/>
              </a:rPr>
              <a:t>Third-party verifiers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7167"/>
                </a:solidFill>
                <a:latin typeface="Inter"/>
              </a:rPr>
              <a:t>Audit &amp;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617720"/>
            <a:ext cx="2971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15568" y="4882896"/>
            <a:ext cx="841248" cy="841248"/>
          </a:xfrm>
          <a:prstGeom prst="roundRect">
            <a:avLst>
              <a:gd name="adj" fmla="val 21739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lipboard-list_cab23e6a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055" y="5076383"/>
            <a:ext cx="454273" cy="4542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39696" y="4928616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2A1F"/>
                </a:solidFill>
                <a:latin typeface="Poppins"/>
              </a:rPr>
              <a:t>Registries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7167"/>
                </a:solidFill>
                <a:latin typeface="Inter"/>
              </a:rPr>
              <a:t>Verra · Gold Standard · BEE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75904" y="4617720"/>
            <a:ext cx="29718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100584" dist="45720" dir="5400000" rotWithShape="0">
              <a:srgbClr val="0C2A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0224" y="4882896"/>
            <a:ext cx="841248" cy="841248"/>
          </a:xfrm>
          <a:prstGeom prst="roundRect">
            <a:avLst>
              <a:gd name="adj" fmla="val 21739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redit-card_3c269858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711" y="5076383"/>
            <a:ext cx="454273" cy="454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74352" y="4928616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C2A1F"/>
                </a:solidFill>
                <a:latin typeface="Poppins"/>
              </a:rPr>
              <a:t>Payment &amp; satellite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7167"/>
                </a:solidFill>
                <a:latin typeface="Inter"/>
              </a:rPr>
              <a:t>Providers &amp;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298680" cy="6967728"/>
          </a:xfrm>
          <a:prstGeom prst="rect">
            <a:avLst/>
          </a:prstGeom>
          <a:solidFill>
            <a:srgbClr val="F4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77724"/>
          </a:xfrm>
          <a:prstGeom prst="rect">
            <a:avLst/>
          </a:prstGeom>
          <a:solidFill>
            <a:srgbClr val="12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40">
                <a:solidFill>
                  <a:srgbClr val="0C7F54"/>
                </a:solidFill>
                <a:latin typeface="Inter"/>
              </a:rPr>
              <a:t>WHAT IT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607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C2A1F"/>
                </a:solidFill>
                <a:latin typeface="Poppins"/>
              </a:rPr>
              <a:t>Cost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627632"/>
            <a:ext cx="603504" cy="64008"/>
          </a:xfrm>
          <a:prstGeom prst="roundRect">
            <a:avLst>
              <a:gd name="adj" fmla="val 50000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1f616923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40680"/>
            <a:ext cx="21945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" y="2103120"/>
            <a:ext cx="10506456" cy="713232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103120"/>
            <a:ext cx="118872" cy="71323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33856" y="2221991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ootprints_286a50a7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18" y="2331354"/>
            <a:ext cx="256763" cy="2567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2103120"/>
            <a:ext cx="8311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B2B23"/>
                </a:solidFill>
                <a:latin typeface="Poppins"/>
              </a:rPr>
              <a:t>Field operations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10479024" y="2414016"/>
            <a:ext cx="91440" cy="9144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16768" y="2414016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54512" y="2414016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2999232"/>
            <a:ext cx="10506456" cy="713232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2999232"/>
            <a:ext cx="118872" cy="71323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3856" y="3118103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nitor_54c6908c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18" y="3227466"/>
            <a:ext cx="256763" cy="2567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2999232"/>
            <a:ext cx="8311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B2B23"/>
                </a:solidFill>
                <a:latin typeface="Poppins"/>
              </a:rPr>
              <a:t>Technology &amp; infrastructure</a:t>
            </a:r>
          </a:p>
        </p:txBody>
      </p:sp>
      <p:sp>
        <p:nvSpPr>
          <p:cNvPr id="22" name="Oval 21"/>
          <p:cNvSpPr/>
          <p:nvPr/>
        </p:nvSpPr>
        <p:spPr>
          <a:xfrm>
            <a:off x="10479024" y="3310128"/>
            <a:ext cx="91440" cy="9144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16768" y="3310128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54512" y="3310128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3895344"/>
            <a:ext cx="10506456" cy="713232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3895344"/>
            <a:ext cx="118872" cy="71323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33856" y="4014215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users_7cc76672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218" y="4123578"/>
            <a:ext cx="256763" cy="25676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28800" y="3895344"/>
            <a:ext cx="8311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B2B23"/>
                </a:solidFill>
                <a:latin typeface="Poppins"/>
              </a:rPr>
              <a:t>Salaries</a:t>
            </a:r>
          </a:p>
        </p:txBody>
      </p:sp>
      <p:sp>
        <p:nvSpPr>
          <p:cNvPr id="30" name="Oval 29"/>
          <p:cNvSpPr/>
          <p:nvPr/>
        </p:nvSpPr>
        <p:spPr>
          <a:xfrm>
            <a:off x="10479024" y="4206240"/>
            <a:ext cx="91440" cy="9144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16768" y="4206240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54512" y="4206240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" y="4791456"/>
            <a:ext cx="10506456" cy="713232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4791456"/>
            <a:ext cx="118872" cy="71323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33856" y="4910328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egaphone_6b8aaf40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218" y="5019690"/>
            <a:ext cx="256763" cy="25676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28800" y="4791456"/>
            <a:ext cx="8311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B2B23"/>
                </a:solidFill>
                <a:latin typeface="Poppins"/>
              </a:rPr>
              <a:t>Sales &amp; marketing</a:t>
            </a:r>
          </a:p>
        </p:txBody>
      </p:sp>
      <p:sp>
        <p:nvSpPr>
          <p:cNvPr id="38" name="Oval 37"/>
          <p:cNvSpPr/>
          <p:nvPr/>
        </p:nvSpPr>
        <p:spPr>
          <a:xfrm>
            <a:off x="10479024" y="5102352"/>
            <a:ext cx="91440" cy="9144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16768" y="5102352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54512" y="5102352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06456" cy="713232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0E8DE"/>
            </a:solidFill>
          </a:ln>
          <a:effectLst>
            <a:outerShdw blurRad="82296" dist="36576" dir="5400000" rotWithShape="0">
              <a:srgbClr val="0C2A1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18872" cy="713232"/>
          </a:xfrm>
          <a:prstGeom prst="roundRect">
            <a:avLst>
              <a:gd name="adj" fmla="val 46153"/>
            </a:avLst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33856" y="5806440"/>
            <a:ext cx="475488" cy="475488"/>
          </a:xfrm>
          <a:prstGeom prst="roundRect">
            <a:avLst>
              <a:gd name="adj" fmla="val 26923"/>
            </a:avLst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scale_f65da665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218" y="5915802"/>
            <a:ext cx="256763" cy="25676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828800" y="5687568"/>
            <a:ext cx="8311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 i="0">
                <a:solidFill>
                  <a:srgbClr val="1B2B23"/>
                </a:solidFill>
                <a:latin typeface="Poppins"/>
              </a:rPr>
              <a:t>Admin &amp; legal</a:t>
            </a:r>
          </a:p>
        </p:txBody>
      </p:sp>
      <p:sp>
        <p:nvSpPr>
          <p:cNvPr id="46" name="Oval 45"/>
          <p:cNvSpPr/>
          <p:nvPr/>
        </p:nvSpPr>
        <p:spPr>
          <a:xfrm>
            <a:off x="10479024" y="5998464"/>
            <a:ext cx="91440" cy="91440"/>
          </a:xfrm>
          <a:prstGeom prst="ellipse">
            <a:avLst/>
          </a:prstGeom>
          <a:solidFill>
            <a:srgbClr val="C2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16768" y="5998464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54512" y="5998464"/>
            <a:ext cx="91440" cy="91440"/>
          </a:xfrm>
          <a:prstGeom prst="ellipse">
            <a:avLst/>
          </a:prstGeom>
          <a:solidFill>
            <a:srgbClr val="E7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532D"/>
                </a:solidFill>
                <a:latin typeface="Inter"/>
              </a:rPr>
              <a:t>Aranya Carbon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64373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E7167"/>
                </a:solidFill>
                <a:latin typeface="Inter"/>
              </a:rPr>
              <a:t>Team WeTookAi'sJob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6419088"/>
            <a:ext cx="182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FA99A"/>
                </a:solidFill>
                <a:latin typeface="Inter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0080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C7F54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